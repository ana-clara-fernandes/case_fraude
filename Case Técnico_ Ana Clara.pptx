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2" r:id="rId4"/>
    <p:sldId id="263" r:id="rId5"/>
    <p:sldId id="260" r:id="rId6"/>
    <p:sldId id="261" r:id="rId7"/>
    <p:sldId id="264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F0D5CD-4048-BA78-4930-A1D376CF22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A0AFDF-C4C9-BB5C-F84D-509E2C400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EA85A-AE1C-8303-8F27-56FCAEDD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BE19D-6AAE-4B60-8CDB-D3A7BE98C502}" type="datetimeFigureOut">
              <a:rPr lang="pt-BR" smtClean="0"/>
              <a:t>19/10/2026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49BEF0-04D8-AB0C-29DB-8DE09FE62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5799FD-6DD5-8BF1-4949-CB7351947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3854-D5DE-4AA4-B83B-4C4E433C4A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3659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4B2542-AB5E-0EE8-8C3A-A041DB4CF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EFF68C-5281-4830-142B-27C71EB6A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C8D888-DE35-539E-6976-427924DA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BE19D-6AAE-4B60-8CDB-D3A7BE98C502}" type="datetimeFigureOut">
              <a:rPr lang="pt-BR" smtClean="0"/>
              <a:t>19/10/2026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9F657A-05D3-7C3E-A049-5255308EB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45C20E-CB13-9487-78DC-C2910FEA1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3854-D5DE-4AA4-B83B-4C4E433C4A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2344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8894AD-A9A8-7DD6-E5EE-7DCD5DC60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5C422FB-9F87-B99D-C978-2B90D65D6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86D9E7-B54C-7A47-AC4B-9280F2C36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BE19D-6AAE-4B60-8CDB-D3A7BE98C502}" type="datetimeFigureOut">
              <a:rPr lang="pt-BR" smtClean="0"/>
              <a:t>19/10/2026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367506-7E04-1998-5B91-001D822FB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EE537A-215A-018D-16AA-547ABED7E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3854-D5DE-4AA4-B83B-4C4E433C4A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335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CC7FE7-BBD2-0463-3464-6C1FA3C68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60EDEE-D5DC-BCFA-222F-484C3D393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D6018F9-0A21-2B2C-063A-2DD83A1B3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30C9DFC-5170-811C-6DD1-B550A8F09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BE19D-6AAE-4B60-8CDB-D3A7BE98C502}" type="datetimeFigureOut">
              <a:rPr lang="pt-BR" smtClean="0"/>
              <a:t>19/10/2026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8E316F0-D7DC-4E8E-C759-9F26702EE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B020F4C-88D3-7317-0BD3-FB7023F48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3854-D5DE-4AA4-B83B-4C4E433C4A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2725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FAF801-A997-2F97-2E16-7B33569B3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CAF2A0-06FF-11E3-BF66-96873E2DA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8B99B76-3CE8-C2A8-3337-245520741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8AF75D2-C1FF-89C8-EA8F-6EFBC043C0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3056A72-4D33-D612-30E3-6D16F2AF7F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2CE67A5-DB48-B6D6-3667-5FD1D4680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BE19D-6AAE-4B60-8CDB-D3A7BE98C502}" type="datetimeFigureOut">
              <a:rPr lang="pt-BR" smtClean="0"/>
              <a:t>19/10/2026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605E605-F06A-C567-FCA1-A7D81364B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38C5D3A-A256-3E09-2660-290513B78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3854-D5DE-4AA4-B83B-4C4E433C4A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654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5E37B5-9E00-7A5F-AEF9-D49DEEC1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28F75A7-0CF6-E38B-EDC7-240B0BB24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BE19D-6AAE-4B60-8CDB-D3A7BE98C502}" type="datetimeFigureOut">
              <a:rPr lang="pt-BR" smtClean="0"/>
              <a:t>19/10/2026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52E1468-9DB9-FDEB-C117-A8FD5CAA3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44B7199-908F-3123-DAFE-A30B74221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3854-D5DE-4AA4-B83B-4C4E433C4A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4452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796F331-3237-6D42-C133-57A14DC8B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BE19D-6AAE-4B60-8CDB-D3A7BE98C502}" type="datetimeFigureOut">
              <a:rPr lang="pt-BR" smtClean="0"/>
              <a:t>19/10/2026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C80C202-A194-E8C5-4215-B49DC288F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5526EDC-5EBB-B52E-4A25-6DA92B6AE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3854-D5DE-4AA4-B83B-4C4E433C4A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5739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A04CFD-286F-4292-872E-D3B8506DC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EF4DC9-8BCA-6F5A-2B3B-FF9123212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9B0C8D6-D2D5-34E1-94B6-2F9AD4698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4C229B-7E25-5715-160F-A06E83E8C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BE19D-6AAE-4B60-8CDB-D3A7BE98C502}" type="datetimeFigureOut">
              <a:rPr lang="pt-BR" smtClean="0"/>
              <a:t>19/10/2026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219920-A599-1B36-0E57-8B00D86B8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6501A33-8AE4-100D-EDB1-C7DC82772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3854-D5DE-4AA4-B83B-4C4E433C4A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6585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6862C-0533-C71E-2C86-0361EB9C6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BB17B72-9B66-A26B-5FFB-C7F241DA795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8FF929-0B54-82D3-107E-FCF6942AE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93C94B-F896-B0A9-B2AA-63B66231A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BE19D-6AAE-4B60-8CDB-D3A7BE98C502}" type="datetimeFigureOut">
              <a:rPr lang="pt-BR" smtClean="0"/>
              <a:t>19/10/2026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195442-EBC6-865D-7328-8CE5E9538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550CCFF-654A-53BD-A173-EFCCC1E36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3854-D5DE-4AA4-B83B-4C4E433C4A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2109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82AC0-2E9D-F294-5455-0781905DB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B487CF4-8845-90EA-2D87-DA44EF8558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190C46-21B7-2046-CBF0-2F0746BA6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BE19D-6AAE-4B60-8CDB-D3A7BE98C502}" type="datetimeFigureOut">
              <a:rPr lang="pt-BR" smtClean="0"/>
              <a:t>19/10/2026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C83959-46EE-3AFB-C6C7-26A5854B2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4509F8-CC3D-0B7A-E27E-A24D14253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3854-D5DE-4AA4-B83B-4C4E433C4A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3014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C12F5A9-45E6-914E-6C10-3FF0D019FE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665980-9659-D449-4CE3-21CE2F5FA0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7386A0-B627-3104-BE27-0289C50E7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BE19D-6AAE-4B60-8CDB-D3A7BE98C502}" type="datetimeFigureOut">
              <a:rPr lang="pt-BR" smtClean="0"/>
              <a:t>19/10/2026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B3CB1C-ECD9-EBFA-CE17-E7D92D4EF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99121E-55FE-EEC7-F509-3EC72BAE9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3854-D5DE-4AA4-B83B-4C4E433C4A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8952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A8DEFA8-609B-7E79-6996-E24495423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894A1D-B4A7-7850-8FAD-87F0BB1D7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550362-7766-FEC8-BBBC-22365B15C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9BE19D-6AAE-4B60-8CDB-D3A7BE98C502}" type="datetimeFigureOut">
              <a:rPr lang="pt-BR" smtClean="0"/>
              <a:t>19/10/2026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07975-0F7B-5CFD-ECE6-B92FEC4D43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07E75B-5AF7-2C6A-D4EE-1F214244F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3D3854-D5DE-4AA4-B83B-4C4E433C4A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2522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11D625-7264-674E-C55C-628E960FC3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Case Técnico(POC): Análise de Risco – Chargeback cartão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6A991F-9E58-B7A1-A47B-913B4D6965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Cliente: </a:t>
            </a:r>
            <a:r>
              <a:rPr lang="pt-BR" dirty="0" err="1"/>
              <a:t>NuvemShop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8633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A8644F-5E3C-4B0C-60CC-FC7CD880B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4000">
                <a:solidFill>
                  <a:srgbClr val="FFFFFF"/>
                </a:solidFill>
              </a:rPr>
              <a:t>Objetivo do modelo: Reduzir chargeback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091BF9-D582-65F6-AC88-DE7F5C696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pt-BR" sz="2000" dirty="0"/>
              <a:t>Com o objetivo de reduzir o chargeback nas transações online, foi desenvolvido um modelo de Machine Learning para prever a probabilidade de chargeback (fraude) no ato da compra</a:t>
            </a:r>
          </a:p>
        </p:txBody>
      </p:sp>
    </p:spTree>
    <p:extLst>
      <p:ext uri="{BB962C8B-B14F-4D97-AF65-F5344CB8AC3E}">
        <p14:creationId xmlns:p14="http://schemas.microsoft.com/office/powerpoint/2010/main" val="3086373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3A4ABDA-2E16-5321-2D98-A4CCAA4D9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Análise Georreferenciada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6B29A5D-9F8C-FF48-FD57-A03B870C6F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1325" b="-1325"/>
          <a:stretch>
            <a:fillRect/>
          </a:stretch>
        </p:blipFill>
        <p:spPr>
          <a:xfrm>
            <a:off x="2482404" y="1494252"/>
            <a:ext cx="7017642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187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FEA588-4E16-107C-4B57-798B8D060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9F81063B-3A0C-30CF-24A1-5A6426F499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0688" y="1458918"/>
            <a:ext cx="8810624" cy="539984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0341EFA-4094-DCAA-8178-F2A2952E0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9CD026-8624-C2E5-90E3-9E6383056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Análise Georreferenciada</a:t>
            </a:r>
          </a:p>
        </p:txBody>
      </p:sp>
    </p:spTree>
    <p:extLst>
      <p:ext uri="{BB962C8B-B14F-4D97-AF65-F5344CB8AC3E}">
        <p14:creationId xmlns:p14="http://schemas.microsoft.com/office/powerpoint/2010/main" val="3655838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1FC220-F5F8-58CA-6AB1-B990689BE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 Variáveis Preditoras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13431F-5E39-F189-1204-81BF36288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6247"/>
            <a:ext cx="5257800" cy="4351338"/>
          </a:xfrm>
        </p:spPr>
        <p:txBody>
          <a:bodyPr>
            <a:normAutofit fontScale="70000" lnSpcReduction="20000"/>
          </a:bodyPr>
          <a:lstStyle/>
          <a:p>
            <a:r>
              <a:rPr lang="pt-BR" dirty="0" err="1"/>
              <a:t>amount</a:t>
            </a:r>
            <a:endParaRPr lang="pt-BR" dirty="0"/>
          </a:p>
          <a:p>
            <a:r>
              <a:rPr lang="pt-BR" dirty="0"/>
              <a:t>Vertical da Loja</a:t>
            </a:r>
          </a:p>
          <a:p>
            <a:r>
              <a:rPr lang="pt-BR" dirty="0"/>
              <a:t>Device usado pelo cliente (aplicativo ou web browser)</a:t>
            </a:r>
          </a:p>
          <a:p>
            <a:r>
              <a:rPr lang="pt-BR" dirty="0"/>
              <a:t>Bandeira do cartão de crédito</a:t>
            </a:r>
          </a:p>
          <a:p>
            <a:r>
              <a:rPr lang="pt-BR" dirty="0"/>
              <a:t>Estado (</a:t>
            </a:r>
            <a:r>
              <a:rPr lang="pt-BR" dirty="0" err="1"/>
              <a:t>State</a:t>
            </a:r>
            <a:r>
              <a:rPr lang="pt-BR" dirty="0"/>
              <a:t>)</a:t>
            </a:r>
          </a:p>
          <a:p>
            <a:r>
              <a:rPr lang="pt-BR" dirty="0"/>
              <a:t>Classificação da cidade de PP, P M, G, GG</a:t>
            </a:r>
          </a:p>
          <a:p>
            <a:r>
              <a:rPr lang="pt-BR" dirty="0"/>
              <a:t>Idade do cliente NA DATA DA COMPRA </a:t>
            </a:r>
          </a:p>
          <a:p>
            <a:r>
              <a:rPr lang="pt-BR" dirty="0"/>
              <a:t>distância entre o cliente e a loja</a:t>
            </a:r>
          </a:p>
          <a:p>
            <a:r>
              <a:rPr lang="pt-BR" dirty="0"/>
              <a:t>Dia da semana da compra</a:t>
            </a:r>
          </a:p>
          <a:p>
            <a:r>
              <a:rPr lang="pt-BR" dirty="0"/>
              <a:t>Hora da compra (principalmente se a compra é feita entre as 22h e 5h – </a:t>
            </a:r>
            <a:r>
              <a:rPr lang="pt-BR" dirty="0" err="1"/>
              <a:t>flag_noite</a:t>
            </a:r>
            <a:r>
              <a:rPr lang="pt-BR" dirty="0"/>
              <a:t>)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8F54186-BA84-11E7-32BA-4AF0D8FA9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976" y="1446247"/>
            <a:ext cx="4821149" cy="423952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DC64080-075F-1499-0B38-44B58610DDBA}"/>
              </a:ext>
            </a:extLst>
          </p:cNvPr>
          <p:cNvSpPr txBox="1"/>
          <p:nvPr/>
        </p:nvSpPr>
        <p:spPr>
          <a:xfrm>
            <a:off x="6665976" y="5797585"/>
            <a:ext cx="4788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A análise de correlação indica, para as variáveis numéricas, o nível de relacionamento das variáveis, duas a duas</a:t>
            </a:r>
          </a:p>
        </p:txBody>
      </p:sp>
    </p:spTree>
    <p:extLst>
      <p:ext uri="{BB962C8B-B14F-4D97-AF65-F5344CB8AC3E}">
        <p14:creationId xmlns:p14="http://schemas.microsoft.com/office/powerpoint/2010/main" val="1254692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0577C0-08DD-A800-FD52-0A79B8EF8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060" y="273377"/>
            <a:ext cx="10910740" cy="1417311"/>
          </a:xfrm>
        </p:spPr>
        <p:txBody>
          <a:bodyPr/>
          <a:lstStyle/>
          <a:p>
            <a:r>
              <a:rPr lang="pt-BR" dirty="0"/>
              <a:t>Modelo selecionado: </a:t>
            </a:r>
            <a:r>
              <a:rPr lang="pt-BR" dirty="0" err="1"/>
              <a:t>LightGBM</a:t>
            </a:r>
            <a:r>
              <a:rPr lang="pt-BR" dirty="0"/>
              <a:t> com balanceamento de classes</a:t>
            </a:r>
          </a:p>
        </p:txBody>
      </p:sp>
      <p:graphicFrame>
        <p:nvGraphicFramePr>
          <p:cNvPr id="8" name="Espaço Reservado para Conteúdo 7">
            <a:extLst>
              <a:ext uri="{FF2B5EF4-FFF2-40B4-BE49-F238E27FC236}">
                <a16:creationId xmlns:a16="http://schemas.microsoft.com/office/drawing/2014/main" id="{34057DC1-CC9F-42FE-21F1-FAC0AD774F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6138314"/>
              </p:ext>
            </p:extLst>
          </p:nvPr>
        </p:nvGraphicFramePr>
        <p:xfrm>
          <a:off x="1959726" y="5626701"/>
          <a:ext cx="4470399" cy="8382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207959">
                  <a:extLst>
                    <a:ext uri="{9D8B030D-6E8A-4147-A177-3AD203B41FA5}">
                      <a16:colId xmlns:a16="http://schemas.microsoft.com/office/drawing/2014/main" val="813881294"/>
                    </a:ext>
                  </a:extLst>
                </a:gridCol>
                <a:gridCol w="684827">
                  <a:extLst>
                    <a:ext uri="{9D8B030D-6E8A-4147-A177-3AD203B41FA5}">
                      <a16:colId xmlns:a16="http://schemas.microsoft.com/office/drawing/2014/main" val="278310477"/>
                    </a:ext>
                  </a:extLst>
                </a:gridCol>
                <a:gridCol w="684827">
                  <a:extLst>
                    <a:ext uri="{9D8B030D-6E8A-4147-A177-3AD203B41FA5}">
                      <a16:colId xmlns:a16="http://schemas.microsoft.com/office/drawing/2014/main" val="1763293909"/>
                    </a:ext>
                  </a:extLst>
                </a:gridCol>
                <a:gridCol w="481915">
                  <a:extLst>
                    <a:ext uri="{9D8B030D-6E8A-4147-A177-3AD203B41FA5}">
                      <a16:colId xmlns:a16="http://schemas.microsoft.com/office/drawing/2014/main" val="1368265274"/>
                    </a:ext>
                  </a:extLst>
                </a:gridCol>
                <a:gridCol w="659463">
                  <a:extLst>
                    <a:ext uri="{9D8B030D-6E8A-4147-A177-3AD203B41FA5}">
                      <a16:colId xmlns:a16="http://schemas.microsoft.com/office/drawing/2014/main" val="755825002"/>
                    </a:ext>
                  </a:extLst>
                </a:gridCol>
                <a:gridCol w="751408">
                  <a:extLst>
                    <a:ext uri="{9D8B030D-6E8A-4147-A177-3AD203B41FA5}">
                      <a16:colId xmlns:a16="http://schemas.microsoft.com/office/drawing/2014/main" val="751451742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base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precision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recall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f1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pr_auc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roc_auc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1708319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validação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0.9021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0.8172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0.8576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0.9107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0.9980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0038267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teste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0.9211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0.8111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0.8626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0.8998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0.9963 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3516844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treino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0.9456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0.9021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0.9986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0.9980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0.8576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9769517"/>
                  </a:ext>
                </a:extLst>
              </a:tr>
            </a:tbl>
          </a:graphicData>
        </a:graphic>
      </p:graphicFrame>
      <p:pic>
        <p:nvPicPr>
          <p:cNvPr id="12" name="Imagem 11">
            <a:extLst>
              <a:ext uri="{FF2B5EF4-FFF2-40B4-BE49-F238E27FC236}">
                <a16:creationId xmlns:a16="http://schemas.microsoft.com/office/drawing/2014/main" id="{61D2BA39-EC26-F9D8-07BB-C4CCE477D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71" y="2516274"/>
            <a:ext cx="7135910" cy="2883196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B97F338D-E534-2260-C6D3-50CFD63314CB}"/>
              </a:ext>
            </a:extLst>
          </p:cNvPr>
          <p:cNvSpPr txBox="1"/>
          <p:nvPr/>
        </p:nvSpPr>
        <p:spPr>
          <a:xfrm>
            <a:off x="347218" y="1521411"/>
            <a:ext cx="115125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9100"/>
            <a:r>
              <a:rPr lang="pt-BR" sz="1600" b="0" i="0" dirty="0">
                <a:solidFill>
                  <a:schemeClr val="tx1"/>
                </a:solidFill>
                <a:effectLst/>
                <a:latin typeface="+mn-lt"/>
              </a:rPr>
              <a:t>Limiar do modelo: Se probabilidade de chargeback &gt; 94,56% =&gt; o modelo retorna como risco elevado e bloqueia a transação 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8533827-3713-4C5F-E31C-02FFF847037A}"/>
              </a:ext>
            </a:extLst>
          </p:cNvPr>
          <p:cNvSpPr txBox="1"/>
          <p:nvPr/>
        </p:nvSpPr>
        <p:spPr>
          <a:xfrm>
            <a:off x="838200" y="1891737"/>
            <a:ext cx="4372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Amostra: 68.304 transações | fraudes: 361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926AC47-BACE-4027-A029-C19BAB0CCA7D}"/>
              </a:ext>
            </a:extLst>
          </p:cNvPr>
          <p:cNvSpPr txBox="1"/>
          <p:nvPr/>
        </p:nvSpPr>
        <p:spPr>
          <a:xfrm>
            <a:off x="5827044" y="1828198"/>
            <a:ext cx="59712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Saving estimado: R$ 20.270,56 a cada 10 mil transações</a:t>
            </a:r>
          </a:p>
          <a:p>
            <a:pPr algn="ctr"/>
            <a:r>
              <a:rPr lang="pt-BR" b="1" dirty="0">
                <a:solidFill>
                  <a:srgbClr val="FF0000"/>
                </a:solidFill>
              </a:rPr>
              <a:t>Com 48 compras negadas por risco de chargeback 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47DFA90-C7F4-D8C7-E180-8B90C39DA2A6}"/>
              </a:ext>
            </a:extLst>
          </p:cNvPr>
          <p:cNvSpPr txBox="1"/>
          <p:nvPr/>
        </p:nvSpPr>
        <p:spPr>
          <a:xfrm>
            <a:off x="7103707" y="2373435"/>
            <a:ext cx="34179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dirty="0"/>
              <a:t>Versus ausência de modelo – compras 100% aprovadas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BE5C638-5D15-244D-DCB7-C587310FB455}"/>
              </a:ext>
            </a:extLst>
          </p:cNvPr>
          <p:cNvSpPr txBox="1"/>
          <p:nvPr/>
        </p:nvSpPr>
        <p:spPr>
          <a:xfrm>
            <a:off x="983725" y="2289043"/>
            <a:ext cx="3211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Taxa de aprovação: 99,52%</a:t>
            </a:r>
          </a:p>
          <a:p>
            <a:endParaRPr lang="pt-BR" dirty="0"/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0407165B-C915-C990-9EE5-A9F32C7057A2}"/>
              </a:ext>
            </a:extLst>
          </p:cNvPr>
          <p:cNvGrpSpPr/>
          <p:nvPr/>
        </p:nvGrpSpPr>
        <p:grpSpPr>
          <a:xfrm>
            <a:off x="7973568" y="2844172"/>
            <a:ext cx="4099560" cy="4013828"/>
            <a:chOff x="7973568" y="2844172"/>
            <a:chExt cx="4099560" cy="4013828"/>
          </a:xfrm>
        </p:grpSpPr>
        <p:pic>
          <p:nvPicPr>
            <p:cNvPr id="23" name="Imagem 22">
              <a:extLst>
                <a:ext uri="{FF2B5EF4-FFF2-40B4-BE49-F238E27FC236}">
                  <a16:creationId xmlns:a16="http://schemas.microsoft.com/office/drawing/2014/main" id="{4EFC7FB5-56A8-1DA3-4D7B-E777EF0D6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6375"/>
            <a:stretch>
              <a:fillRect/>
            </a:stretch>
          </p:blipFill>
          <p:spPr>
            <a:xfrm>
              <a:off x="7973568" y="2848550"/>
              <a:ext cx="4099560" cy="4009450"/>
            </a:xfrm>
            <a:prstGeom prst="rect">
              <a:avLst/>
            </a:prstGeom>
          </p:spPr>
        </p:pic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06548F2E-2520-DCBD-4976-B22FBE59651E}"/>
                </a:ext>
              </a:extLst>
            </p:cNvPr>
            <p:cNvSpPr txBox="1"/>
            <p:nvPr/>
          </p:nvSpPr>
          <p:spPr>
            <a:xfrm>
              <a:off x="9192768" y="2844172"/>
              <a:ext cx="2880360" cy="27699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Importância de cada variável no modelo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9301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FC3FCD-CDEE-C195-B86C-515F19147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MLOps</a:t>
            </a:r>
            <a:r>
              <a:rPr lang="pt-BR" dirty="0"/>
              <a:t> e Produção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D34FA7-F46B-5331-0855-5F7D1AAD3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Predição em tempo real</a:t>
            </a:r>
          </a:p>
          <a:p>
            <a:r>
              <a:rPr lang="pt-BR" dirty="0"/>
              <a:t>Construção de painel de acompanhamento de CI/CD</a:t>
            </a:r>
          </a:p>
          <a:p>
            <a:r>
              <a:rPr lang="pt-BR" dirty="0"/>
              <a:t>Acompanhamento de integridade do banco de dados</a:t>
            </a:r>
          </a:p>
          <a:p>
            <a:r>
              <a:rPr lang="pt-BR" dirty="0"/>
              <a:t>Versionamento do modelo a longo prazo</a:t>
            </a:r>
          </a:p>
          <a:p>
            <a:r>
              <a:rPr lang="pt-BR" dirty="0"/>
              <a:t>Período de transição: Modo Sombra para validação, com duração de pelo menos uma janela completa de ciclo de chargeback</a:t>
            </a:r>
          </a:p>
          <a:p>
            <a:r>
              <a:rPr lang="pt-BR" dirty="0" err="1"/>
              <a:t>Falback</a:t>
            </a:r>
            <a:r>
              <a:rPr lang="pt-BR" dirty="0"/>
              <a:t>: em caso de falha do modelo, é preciso estabelecer regras de decisão estáticas para aprovação automática, baseadas em regras de negócio e feature </a:t>
            </a:r>
            <a:r>
              <a:rPr lang="pt-BR" dirty="0" err="1"/>
              <a:t>importance</a:t>
            </a:r>
            <a:r>
              <a:rPr lang="pt-BR" dirty="0"/>
              <a:t> do modelo (a analise georreferenciada pode ser um ponto de partida)</a:t>
            </a:r>
          </a:p>
          <a:p>
            <a:r>
              <a:rPr lang="pt-BR" dirty="0"/>
              <a:t>Carta-controle para as métricas de avaliação do modelo</a:t>
            </a:r>
          </a:p>
          <a:p>
            <a:r>
              <a:rPr lang="pt-BR" dirty="0"/>
              <a:t>Sugestão: uso do framework </a:t>
            </a:r>
            <a:r>
              <a:rPr lang="pt-BR" dirty="0" err="1"/>
              <a:t>MLflow</a:t>
            </a:r>
            <a:br>
              <a:rPr lang="pt-BR" dirty="0"/>
            </a:br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365814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366</Words>
  <Application>Microsoft Office PowerPoint</Application>
  <PresentationFormat>Widescreen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Aptos Narrow</vt:lpstr>
      <vt:lpstr>Arial</vt:lpstr>
      <vt:lpstr>Segoe UI</vt:lpstr>
      <vt:lpstr>Tema do Office</vt:lpstr>
      <vt:lpstr>Case Técnico(POC): Análise de Risco – Chargeback cartão</vt:lpstr>
      <vt:lpstr>Objetivo do modelo: Reduzir chargeback</vt:lpstr>
      <vt:lpstr>Análise Georreferenciada</vt:lpstr>
      <vt:lpstr>Análise Georreferenciada</vt:lpstr>
      <vt:lpstr>Modelo e Variáveis Preditoras</vt:lpstr>
      <vt:lpstr>Modelo selecionado: LightGBM com balanceamento de classes</vt:lpstr>
      <vt:lpstr>MLOps e Produção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 Clara Fernandes</dc:creator>
  <cp:lastModifiedBy>Ana Clara Fernandes</cp:lastModifiedBy>
  <cp:revision>1</cp:revision>
  <dcterms:created xsi:type="dcterms:W3CDTF">2026-10-19T20:21:24Z</dcterms:created>
  <dcterms:modified xsi:type="dcterms:W3CDTF">2026-10-19T22:15:31Z</dcterms:modified>
</cp:coreProperties>
</file>